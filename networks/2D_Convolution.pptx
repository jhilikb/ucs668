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297680"/>
            <a:ext cx="310896" cy="310896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0576" y="4297680"/>
            <a:ext cx="310896" cy="3108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1472" y="4297680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4297680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13264" y="4297680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4608576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80576" y="4608576"/>
            <a:ext cx="310896" cy="310896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91472" y="4608576"/>
            <a:ext cx="310896" cy="3108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608576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13264" y="4608576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4919472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80576" y="4919472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91472" y="4919472"/>
            <a:ext cx="310896" cy="310896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02368" y="4919472"/>
            <a:ext cx="310896" cy="3108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13264" y="4919472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0" y="5230368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0576" y="5230368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91472" y="5230368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02368" y="5230368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13264" y="5230368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5541264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0576" y="5541264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91472" y="5541264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02368" y="5541264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13264" y="5541264"/>
            <a:ext cx="310896" cy="310896"/>
          </a:xfrm>
          <a:prstGeom prst="rect">
            <a:avLst/>
          </a:prstGeom>
          <a:solidFill>
            <a:srgbClr val="2E2F6E"/>
          </a:solidFill>
          <a:ln w="12700">
            <a:solidFill>
              <a:srgbClr val="3F4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3317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CONVOLUTION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731520" y="3200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Visualizing Kernel Size, Padding, Stride &amp; Dilation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3152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guide for students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CONVOLUTION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2D Convolution?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kernel slides across the input, and at every position it computes a dot product with the values underneath it. Each dot product becomes one pixel of the output.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81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 (5 × 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9659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19659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9659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9659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4231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24231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24231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4231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24231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28803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28803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28803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28803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33375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33375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03120" y="33375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33375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7947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37947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37947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03120" y="37947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0" y="3794760"/>
            <a:ext cx="457200" cy="45720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1965960"/>
            <a:ext cx="1371600" cy="1371600"/>
          </a:xfrm>
          <a:prstGeom prst="rect">
            <a:avLst/>
          </a:prstGeom>
          <a:ln w="381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2651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794760" y="15819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 (3 × 3)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94760" y="21945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51960" y="21945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21945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94760" y="26517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51960" y="26517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26517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94760" y="31089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51960" y="31089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3108960"/>
            <a:ext cx="457200" cy="45720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40680" y="2651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126480" y="15819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 (3 × 3)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26480" y="2029968"/>
            <a:ext cx="566928" cy="56692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93408" y="2029968"/>
            <a:ext cx="566928" cy="566928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60336" y="2029968"/>
            <a:ext cx="566928" cy="566928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2596896"/>
            <a:ext cx="566928" cy="566928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93408" y="2596896"/>
            <a:ext cx="566928" cy="566928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60336" y="2596896"/>
            <a:ext cx="566928" cy="566928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26480" y="3163824"/>
            <a:ext cx="566928" cy="566928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93408" y="3163824"/>
            <a:ext cx="566928" cy="566928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60336" y="3163824"/>
            <a:ext cx="566928" cy="566928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03920" y="2011680"/>
            <a:ext cx="310896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0" y="214884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Highlighted window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orange 3×3 patch of the input is multiplied element-by-element with the kernel, then summed into a single value.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value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the top-left cell of the output.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4864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Output[r,c]  =  Σ ( Input_window ⊙ Kernel )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48640" y="53492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kernel repeats this at every position, sliding left-to-right, top-to-bottom, to fill in the whole output.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CONVOLUTION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Size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kernel size sets how much of the input each output value 'sees' at once — its receptive field.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kernel — 3 ×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7 × 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1488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1488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21488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21488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21488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21488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4231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24231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5880" y="24231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24231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74520" y="24231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8840" y="24231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23160" y="24231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269748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269748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5880" y="269748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269748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74520" y="269748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48840" y="269748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23160" y="269748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297180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297180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297180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297180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4520" y="297180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297180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297180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324612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1560" y="324612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25880" y="324612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00200" y="324612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74520" y="324612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48840" y="324612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324612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" y="35204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1560" y="35204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25880" y="35204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00200" y="35204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74520" y="35204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48840" y="35204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23160" y="35204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240" y="37947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51560" y="37947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25880" y="37947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00200" y="37947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74520" y="37947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48840" y="37947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423160" y="37947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25880" y="2697480"/>
            <a:ext cx="822960" cy="822960"/>
          </a:xfrm>
          <a:prstGeom prst="rect">
            <a:avLst/>
          </a:prstGeom>
          <a:ln w="38100">
            <a:solidFill>
              <a:srgbClr val="FF6B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43708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5 × 5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77240" y="4663440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33272" y="4663440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289304" y="4663440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45336" y="4663440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801368" y="4663440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4919472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3272" y="4919472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89304" y="4919472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45336" y="4919472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01368" y="4919472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7240" y="5175504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33272" y="5175504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289304" y="5175504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45336" y="5175504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801368" y="5175504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77240" y="5431536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33272" y="5431536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89304" y="5431536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545336" y="5431536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01368" y="5431536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77240" y="5687568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33272" y="5687568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289304" y="5687568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545336" y="5687568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801368" y="5687568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0080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kernel — 5 × 5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653796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7 × 7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6537960" y="21488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812280" y="21488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086600" y="21488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360920" y="21488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635240" y="21488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909560" y="21488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183880" y="21488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537960" y="24231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12280" y="242316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86600" y="242316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60920" y="242316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35240" y="242316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09560" y="242316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183880" y="24231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537960" y="269748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812280" y="269748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086600" y="269748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360920" y="269748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635240" y="269748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909560" y="269748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183880" y="269748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537960" y="297180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812280" y="297180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086600" y="297180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360920" y="297180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635240" y="297180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909560" y="297180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83880" y="297180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537960" y="324612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812280" y="324612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086600" y="324612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360920" y="324612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635240" y="324612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09560" y="324612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183880" y="324612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537960" y="35204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812280" y="352044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086600" y="352044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360920" y="352044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635240" y="352044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909560" y="3520440"/>
            <a:ext cx="274320" cy="274320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183880" y="352044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537960" y="37947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812280" y="37947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086600" y="37947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360920" y="37947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635240" y="37947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909560" y="37947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183880" y="3794760"/>
            <a:ext cx="274320" cy="27432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812280" y="2423160"/>
            <a:ext cx="1371600" cy="1371600"/>
          </a:xfrm>
          <a:prstGeom prst="rect">
            <a:avLst/>
          </a:prstGeom>
          <a:ln w="38100">
            <a:solidFill>
              <a:srgbClr val="FF6B3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537960" y="43708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3 × 3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6537960" y="4663440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93992" y="4663440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050024" y="4663440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537960" y="4919472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793992" y="4919472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050024" y="4919472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537960" y="5175504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793992" y="5175504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050024" y="5175504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7F8FC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31520" y="598932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kernel → </a:t>
            </a:r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receptive field &amp; more parameters per filter, but the output shrinks faster.   </a:t>
            </a:r>
            <a:pPr indent="0" marL="0">
              <a:buNone/>
            </a:pPr>
            <a:r>
              <a:rPr lang="en-US" sz="115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kernel → </a:t>
            </a:r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finer detail, fewer parameters, needs more layers to see the same context.</a:t>
            </a:r>
            <a:endParaRPr lang="en-US" sz="1150" dirty="0"/>
          </a:p>
        </p:txBody>
      </p:sp>
      <p:sp>
        <p:nvSpPr>
          <p:cNvPr id="147" name="Text 14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CONVOLUTION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 adds a border of extra cells around the input so the kernel can reach the edges — controlling how much the output shrinks.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padding  (P = 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2057400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4208" y="2057400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84832" y="2057400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05456" y="2057400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478024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43584" y="2478024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64208" y="2478024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84832" y="2478024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05456" y="2478024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898648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43584" y="2898648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4208" y="2898648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84832" y="2898648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05456" y="2898648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319272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43584" y="3319272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4208" y="3319272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84832" y="3319272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05456" y="3319272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739896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43584" y="3739896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4208" y="3739896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84832" y="3739896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05456" y="3739896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43584" y="2057400"/>
            <a:ext cx="420624" cy="420624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64208" y="2057400"/>
            <a:ext cx="420624" cy="420624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84832" y="2057400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05456" y="2057400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2478024"/>
            <a:ext cx="420624" cy="420624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43584" y="2478024"/>
            <a:ext cx="420624" cy="420624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64208" y="2478024"/>
            <a:ext cx="420624" cy="420624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84832" y="2478024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05456" y="2478024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" y="2898648"/>
            <a:ext cx="420624" cy="420624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43584" y="2898648"/>
            <a:ext cx="420624" cy="420624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64208" y="2898648"/>
            <a:ext cx="420624" cy="420624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84832" y="2898648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05456" y="2898648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" y="3319272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43584" y="3319272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64208" y="3319272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84832" y="3319272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05456" y="3319272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739896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43584" y="3739896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64208" y="3739896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84832" y="3739896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05456" y="3739896"/>
            <a:ext cx="420624" cy="420624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" y="2057400"/>
            <a:ext cx="1261872" cy="1261872"/>
          </a:xfrm>
          <a:prstGeom prst="rect">
            <a:avLst/>
          </a:prstGeom>
          <a:ln w="38100">
            <a:solidFill>
              <a:srgbClr val="FF6B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3 × 3  →  shrinks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22960" y="4663440"/>
            <a:ext cx="420624" cy="420624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43584" y="4663440"/>
            <a:ext cx="420624" cy="420624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64208" y="4663440"/>
            <a:ext cx="420624" cy="420624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2960" y="5084064"/>
            <a:ext cx="420624" cy="420624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243584" y="5084064"/>
            <a:ext cx="420624" cy="420624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664208" y="5084064"/>
            <a:ext cx="420624" cy="420624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5504688"/>
            <a:ext cx="420624" cy="420624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43584" y="5504688"/>
            <a:ext cx="420624" cy="420624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64208" y="5504688"/>
            <a:ext cx="420624" cy="420624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92240" y="16276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 = 1  ("same")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492240" y="2057400"/>
            <a:ext cx="301752" cy="301752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93992" y="2057400"/>
            <a:ext cx="301752" cy="301752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095744" y="2057400"/>
            <a:ext cx="301752" cy="301752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397496" y="2057400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7699248" y="2057400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8001000" y="2057400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8302752" y="2057400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6492240" y="2359152"/>
            <a:ext cx="301752" cy="301752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793992" y="2359152"/>
            <a:ext cx="301752" cy="301752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095744" y="2359152"/>
            <a:ext cx="301752" cy="301752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397496" y="2359152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699248" y="2359152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01000" y="2359152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302752" y="2359152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6492240" y="2660904"/>
            <a:ext cx="301752" cy="301752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93992" y="2660904"/>
            <a:ext cx="301752" cy="301752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95744" y="2660904"/>
            <a:ext cx="301752" cy="301752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397496" y="2660904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99248" y="2660904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01000" y="2660904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302752" y="2660904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6492240" y="2962656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6793992" y="2962656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095744" y="2962656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97496" y="2962656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699248" y="2962656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01000" y="2962656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302752" y="2962656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>
            <a:off x="6492240" y="3264408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>
            <a:off x="6793992" y="3264408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095744" y="3264408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97496" y="3264408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699248" y="3264408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01000" y="3264408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302752" y="3264408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6492240" y="3566160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>
            <a:off x="6793992" y="3566160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095744" y="3566160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397496" y="3566160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699248" y="3566160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001000" y="3566160"/>
            <a:ext cx="301752" cy="301752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302752" y="3566160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110" name="Shape 108"/>
          <p:cNvSpPr/>
          <p:nvPr/>
        </p:nvSpPr>
        <p:spPr>
          <a:xfrm>
            <a:off x="6492240" y="3867912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111" name="Shape 109"/>
          <p:cNvSpPr/>
          <p:nvPr/>
        </p:nvSpPr>
        <p:spPr>
          <a:xfrm>
            <a:off x="6793992" y="3867912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7095744" y="3867912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>
            <a:off x="7397496" y="3867912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114" name="Shape 112"/>
          <p:cNvSpPr/>
          <p:nvPr/>
        </p:nvSpPr>
        <p:spPr>
          <a:xfrm>
            <a:off x="7699248" y="3867912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>
            <a:off x="8001000" y="3867912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>
            <a:off x="8302752" y="3867912"/>
            <a:ext cx="301752" cy="30175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>
            <a:off x="6492240" y="2057400"/>
            <a:ext cx="905256" cy="905256"/>
          </a:xfrm>
          <a:prstGeom prst="rect">
            <a:avLst/>
          </a:prstGeom>
          <a:ln w="38100">
            <a:solidFill>
              <a:srgbClr val="FF6B3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492240" y="43708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5 × 5  →  matches input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6492240" y="4663440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748272" y="4663440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004304" y="4663440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260336" y="4663440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516368" y="4663440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492240" y="4919472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748272" y="4919472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004304" y="4919472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260336" y="4919472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516368" y="4919472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492240" y="5175504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748272" y="5175504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004304" y="5175504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260336" y="5175504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516368" y="5175504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492240" y="5431536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748272" y="5431536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004304" y="5431536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260336" y="5431536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516368" y="5431536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492240" y="5687568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748272" y="5687568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004304" y="5687568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260336" y="5687568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516368" y="5687568"/>
            <a:ext cx="256032" cy="256032"/>
          </a:xfrm>
          <a:prstGeom prst="rect">
            <a:avLst/>
          </a:prstGeom>
          <a:solidFill>
            <a:srgbClr val="E6FBF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875520" y="2103120"/>
            <a:ext cx="256032" cy="256032"/>
          </a:xfrm>
          <a:prstGeom prst="rect">
            <a:avLst/>
          </a:prstGeom>
          <a:solidFill>
            <a:srgbClr val="E9EBF1"/>
          </a:solidFill>
          <a:ln w="12700">
            <a:solidFill>
              <a:srgbClr val="B7BECC"/>
            </a:solidFill>
            <a:prstDash val="dash"/>
          </a:ln>
        </p:spPr>
      </p:sp>
      <p:sp>
        <p:nvSpPr>
          <p:cNvPr id="145" name="Text 143"/>
          <p:cNvSpPr/>
          <p:nvPr/>
        </p:nvSpPr>
        <p:spPr>
          <a:xfrm>
            <a:off x="10195560" y="2066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Padded (dummy) cells — usually zeros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7F8FC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31520" y="598932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(no padding) → </a:t>
            </a:r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always shrinks.   </a:t>
            </a:r>
            <a:pPr indent="0" marL="0">
              <a:buNone/>
            </a:pPr>
            <a:r>
              <a:rPr lang="en-US" sz="115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padding → </a:t>
            </a:r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keeps the input's width &amp; height, and border pixels get fair treatment.</a:t>
            </a:r>
            <a:endParaRPr lang="en-US" sz="1150" dirty="0"/>
          </a:p>
        </p:txBody>
      </p:sp>
      <p:sp>
        <p:nvSpPr>
          <p:cNvPr id="148" name="Text 14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CONVOLUTION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 is how many cells the kernel jumps between positions. A larger stride skips more, so the output is smaller.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276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 = 1  (dense overlap)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0574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0574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0574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20574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0574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20574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4231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4231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24231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4231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4231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24231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24231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278892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278892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278892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4560" y="278892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278892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278892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315468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0" y="315468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63040" y="315468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0" y="315468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94560" y="315468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315468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0" y="315468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352044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0" y="352044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352044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0" y="352044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94560" y="352044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0" y="352044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26080" y="352044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" y="38862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" y="38862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3040" y="38862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28800" y="38862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94560" y="38862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0" y="38862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0" y="38862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520" y="42519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97280" y="42519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63040" y="42519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28800" y="42519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94560" y="42519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60320" y="42519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26080" y="42519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" y="2057400"/>
            <a:ext cx="1097280" cy="1097280"/>
          </a:xfrm>
          <a:prstGeom prst="rect">
            <a:avLst/>
          </a:prstGeom>
          <a:ln w="33020">
            <a:solidFill>
              <a:srgbClr val="FF6B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97280" y="2057400"/>
            <a:ext cx="1097280" cy="1097280"/>
          </a:xfrm>
          <a:prstGeom prst="rect">
            <a:avLst/>
          </a:prstGeom>
          <a:ln w="33020">
            <a:solidFill>
              <a:srgbClr val="3D5AFE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1463040" y="2057400"/>
            <a:ext cx="1097280" cy="1097280"/>
          </a:xfrm>
          <a:prstGeom prst="rect">
            <a:avLst/>
          </a:prstGeom>
          <a:ln w="33020">
            <a:solidFill>
              <a:srgbClr val="00B8A9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731520" y="4782312"/>
            <a:ext cx="201168" cy="201168"/>
          </a:xfrm>
          <a:prstGeom prst="rect">
            <a:avLst/>
          </a:prstGeom>
          <a:ln w="30480">
            <a:solidFill>
              <a:srgbClr val="FF6B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5840" y="47274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148840" y="4782312"/>
            <a:ext cx="201168" cy="201168"/>
          </a:xfrm>
          <a:prstGeom prst="rect">
            <a:avLst/>
          </a:prstGeom>
          <a:ln w="30480">
            <a:solidFill>
              <a:srgbClr val="3D5AFE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2423160" y="47274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566160" y="4782312"/>
            <a:ext cx="201168" cy="201168"/>
          </a:xfrm>
          <a:prstGeom prst="rect">
            <a:avLst/>
          </a:prstGeom>
          <a:ln w="30480">
            <a:solidFill>
              <a:srgbClr val="00B8A9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3840480" y="47274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31520" y="51846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 1  →  Output 5 × 5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492240" y="16276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 = 2  (skips cells)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6492240" y="20574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58000" y="20574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223760" y="20574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89520" y="20574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55280" y="20574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21040" y="20574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686800" y="20574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92240" y="24231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858000" y="24231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223760" y="24231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589520" y="24231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955280" y="24231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321040" y="24231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86800" y="24231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492240" y="278892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858000" y="278892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23760" y="278892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78892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55280" y="278892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21040" y="278892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686800" y="278892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92240" y="315468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858000" y="315468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223760" y="315468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589520" y="315468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955280" y="315468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321040" y="315468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686800" y="315468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492240" y="352044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858000" y="352044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223760" y="352044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589520" y="352044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955280" y="352044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321040" y="352044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686800" y="352044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492240" y="38862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858000" y="38862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223760" y="38862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589520" y="38862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955280" y="38862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321040" y="38862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86800" y="388620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492240" y="42519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858000" y="42519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223760" y="42519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589520" y="42519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955280" y="42519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321040" y="42519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686800" y="4251960"/>
            <a:ext cx="365760" cy="365760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492240" y="2057400"/>
            <a:ext cx="1097280" cy="1097280"/>
          </a:xfrm>
          <a:prstGeom prst="rect">
            <a:avLst/>
          </a:prstGeom>
          <a:ln w="33020">
            <a:solidFill>
              <a:srgbClr val="FF6B3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223760" y="2057400"/>
            <a:ext cx="1097280" cy="1097280"/>
          </a:xfrm>
          <a:prstGeom prst="rect">
            <a:avLst/>
          </a:prstGeom>
          <a:ln w="33020">
            <a:solidFill>
              <a:srgbClr val="3D5AFE"/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>
            <a:off x="7955280" y="2057400"/>
            <a:ext cx="1097280" cy="1097280"/>
          </a:xfrm>
          <a:prstGeom prst="rect">
            <a:avLst/>
          </a:prstGeom>
          <a:ln w="33020">
            <a:solidFill>
              <a:srgbClr val="00B8A9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6492240" y="4782312"/>
            <a:ext cx="201168" cy="201168"/>
          </a:xfrm>
          <a:prstGeom prst="rect">
            <a:avLst/>
          </a:prstGeom>
          <a:ln w="30480">
            <a:solidFill>
              <a:srgbClr val="FF6B3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766560" y="47274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50" dirty="0"/>
          </a:p>
        </p:txBody>
      </p:sp>
      <p:sp>
        <p:nvSpPr>
          <p:cNvPr id="120" name="Shape 118"/>
          <p:cNvSpPr/>
          <p:nvPr/>
        </p:nvSpPr>
        <p:spPr>
          <a:xfrm>
            <a:off x="7909560" y="4782312"/>
            <a:ext cx="201168" cy="201168"/>
          </a:xfrm>
          <a:prstGeom prst="rect">
            <a:avLst/>
          </a:prstGeom>
          <a:ln w="30480">
            <a:solidFill>
              <a:srgbClr val="3D5AFE"/>
            </a:solidFill>
            <a:prstDash val="dash"/>
          </a:ln>
        </p:spPr>
      </p:sp>
      <p:sp>
        <p:nvSpPr>
          <p:cNvPr id="121" name="Text 119"/>
          <p:cNvSpPr/>
          <p:nvPr/>
        </p:nvSpPr>
        <p:spPr>
          <a:xfrm>
            <a:off x="8183880" y="47274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9326880" y="4782312"/>
            <a:ext cx="201168" cy="201168"/>
          </a:xfrm>
          <a:prstGeom prst="rect">
            <a:avLst/>
          </a:prstGeom>
          <a:ln w="30480">
            <a:solidFill>
              <a:srgbClr val="00B8A9"/>
            </a:solidFill>
            <a:prstDash val="dash"/>
          </a:ln>
        </p:spPr>
      </p:sp>
      <p:sp>
        <p:nvSpPr>
          <p:cNvPr id="123" name="Text 121"/>
          <p:cNvSpPr/>
          <p:nvPr/>
        </p:nvSpPr>
        <p:spPr>
          <a:xfrm>
            <a:off x="9601200" y="47274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50" dirty="0"/>
          </a:p>
        </p:txBody>
      </p:sp>
      <p:sp>
        <p:nvSpPr>
          <p:cNvPr id="124" name="Text 122"/>
          <p:cNvSpPr/>
          <p:nvPr/>
        </p:nvSpPr>
        <p:spPr>
          <a:xfrm>
            <a:off x="6492240" y="51846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 2  →  Output 3 × 3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548640" y="603504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stride → </a:t>
            </a:r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smaller, coarser output and less computation — a common way to downsample instead of pooling.</a:t>
            </a:r>
            <a:endParaRPr lang="en-US" sz="1150" dirty="0"/>
          </a:p>
        </p:txBody>
      </p:sp>
      <p:sp>
        <p:nvSpPr>
          <p:cNvPr id="127" name="Text 1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CONVOLUTION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Dilation spreads the kernel's taps apart, so the same few weights cover a wider area of the input.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Dilation = 1  (standard)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91056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5104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59152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7008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91056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75104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59152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91056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75104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9152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27248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7008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91056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9152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27248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07008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91056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75104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59152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0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27248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07008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91056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75104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59152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0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27248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960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07008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91056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75104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59152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0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27248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2960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07008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591056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75104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59152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43200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27248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2960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207008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591056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975104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59152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0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127248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22960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207008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91056" y="2825496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975104" y="2825496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59152" y="2825496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3200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27248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22960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207008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591056" y="3209544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975104" y="3209544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359152" y="3209544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43200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127248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22960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07008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591056" y="3593592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975104" y="3593592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359152" y="3593592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743200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27248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22960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207008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591056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975104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359152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43200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27248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22960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207008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591056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975104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359152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0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127248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591056" y="2825496"/>
            <a:ext cx="1152144" cy="1152144"/>
          </a:xfrm>
          <a:prstGeom prst="rect">
            <a:avLst/>
          </a:prstGeom>
          <a:ln w="38100">
            <a:solidFill>
              <a:srgbClr val="FF6B3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22960" y="492861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weights cover a 3 × 3 area</a:t>
            </a:r>
            <a:endParaRPr lang="en-US" sz="1150" dirty="0"/>
          </a:p>
        </p:txBody>
      </p:sp>
      <p:sp>
        <p:nvSpPr>
          <p:cNvPr id="106" name="Text 104"/>
          <p:cNvSpPr/>
          <p:nvPr/>
        </p:nvSpPr>
        <p:spPr>
          <a:xfrm>
            <a:off x="6492240" y="16276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Dilation = 2  (spread out)</a:t>
            </a:r>
            <a:endParaRPr lang="en-US" sz="1400" dirty="0"/>
          </a:p>
        </p:txBody>
      </p:sp>
      <p:sp>
        <p:nvSpPr>
          <p:cNvPr id="107" name="Shape 105"/>
          <p:cNvSpPr/>
          <p:nvPr/>
        </p:nvSpPr>
        <p:spPr>
          <a:xfrm>
            <a:off x="6492240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876288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260336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644384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028432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412480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796528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492240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876288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260336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644384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028432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412480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796528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492240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876288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260336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644384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028432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412480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796528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492240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876288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260336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644384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028432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412480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796528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492240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876288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260336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644384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028432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412480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796528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492240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876288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260336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644384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028432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412480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796528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492240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876288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260336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644384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028432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412480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796528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492240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876288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260336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644384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028432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412480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796528" y="205740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492240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876288" y="2441448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260336" y="2441448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66" name="Shape 164"/>
          <p:cNvSpPr/>
          <p:nvPr/>
        </p:nvSpPr>
        <p:spPr>
          <a:xfrm>
            <a:off x="7644384" y="2441448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028432" y="2441448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68" name="Shape 166"/>
          <p:cNvSpPr/>
          <p:nvPr/>
        </p:nvSpPr>
        <p:spPr>
          <a:xfrm>
            <a:off x="8412480" y="2441448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796528" y="244144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92240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876288" y="2825496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72" name="Shape 170"/>
          <p:cNvSpPr/>
          <p:nvPr/>
        </p:nvSpPr>
        <p:spPr>
          <a:xfrm>
            <a:off x="7260336" y="2825496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73" name="Shape 171"/>
          <p:cNvSpPr/>
          <p:nvPr/>
        </p:nvSpPr>
        <p:spPr>
          <a:xfrm>
            <a:off x="7644384" y="2825496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74" name="Shape 172"/>
          <p:cNvSpPr/>
          <p:nvPr/>
        </p:nvSpPr>
        <p:spPr>
          <a:xfrm>
            <a:off x="8028432" y="2825496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75" name="Shape 173"/>
          <p:cNvSpPr/>
          <p:nvPr/>
        </p:nvSpPr>
        <p:spPr>
          <a:xfrm>
            <a:off x="8412480" y="2825496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76" name="Shape 174"/>
          <p:cNvSpPr/>
          <p:nvPr/>
        </p:nvSpPr>
        <p:spPr>
          <a:xfrm>
            <a:off x="8796528" y="2825496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92240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876288" y="3209544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260336" y="3209544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80" name="Shape 178"/>
          <p:cNvSpPr/>
          <p:nvPr/>
        </p:nvSpPr>
        <p:spPr>
          <a:xfrm>
            <a:off x="7644384" y="3209544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028432" y="3209544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82" name="Shape 180"/>
          <p:cNvSpPr/>
          <p:nvPr/>
        </p:nvSpPr>
        <p:spPr>
          <a:xfrm>
            <a:off x="8412480" y="3209544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796528" y="3209544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492240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76288" y="3593592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86" name="Shape 184"/>
          <p:cNvSpPr/>
          <p:nvPr/>
        </p:nvSpPr>
        <p:spPr>
          <a:xfrm>
            <a:off x="7260336" y="3593592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87" name="Shape 185"/>
          <p:cNvSpPr/>
          <p:nvPr/>
        </p:nvSpPr>
        <p:spPr>
          <a:xfrm>
            <a:off x="7644384" y="3593592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88" name="Shape 186"/>
          <p:cNvSpPr/>
          <p:nvPr/>
        </p:nvSpPr>
        <p:spPr>
          <a:xfrm>
            <a:off x="8028432" y="3593592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89" name="Shape 187"/>
          <p:cNvSpPr/>
          <p:nvPr/>
        </p:nvSpPr>
        <p:spPr>
          <a:xfrm>
            <a:off x="8412480" y="3593592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90" name="Shape 188"/>
          <p:cNvSpPr/>
          <p:nvPr/>
        </p:nvSpPr>
        <p:spPr>
          <a:xfrm>
            <a:off x="8796528" y="3593592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492240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76288" y="3977640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260336" y="3977640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94" name="Shape 192"/>
          <p:cNvSpPr/>
          <p:nvPr/>
        </p:nvSpPr>
        <p:spPr>
          <a:xfrm>
            <a:off x="7644384" y="3977640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8028432" y="3977640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9E2"/>
            </a:solidFill>
            <a:prstDash val="dash"/>
          </a:ln>
        </p:spPr>
      </p:sp>
      <p:sp>
        <p:nvSpPr>
          <p:cNvPr id="196" name="Shape 194"/>
          <p:cNvSpPr/>
          <p:nvPr/>
        </p:nvSpPr>
        <p:spPr>
          <a:xfrm>
            <a:off x="8412480" y="3977640"/>
            <a:ext cx="384048" cy="384048"/>
          </a:xfrm>
          <a:prstGeom prst="rect">
            <a:avLst/>
          </a:prstGeom>
          <a:solidFill>
            <a:srgbClr val="FFE1D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796528" y="3977640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492240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876288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260336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44384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028432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412480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796528" y="4361688"/>
            <a:ext cx="384048" cy="384048"/>
          </a:xfrm>
          <a:prstGeom prst="rect">
            <a:avLst/>
          </a:prstGeom>
          <a:solidFill>
            <a:srgbClr val="F3F5FA"/>
          </a:solidFill>
          <a:ln w="12700">
            <a:solidFill>
              <a:srgbClr val="9AA3B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876288" y="2441448"/>
            <a:ext cx="384048" cy="384048"/>
          </a:xfrm>
          <a:prstGeom prst="rect">
            <a:avLst/>
          </a:prstGeom>
          <a:solidFill>
            <a:srgbClr val="FFE1D1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644384" y="2441448"/>
            <a:ext cx="384048" cy="384048"/>
          </a:xfrm>
          <a:prstGeom prst="rect">
            <a:avLst/>
          </a:prstGeom>
          <a:solidFill>
            <a:srgbClr val="FFE1D1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412480" y="2441448"/>
            <a:ext cx="384048" cy="384048"/>
          </a:xfrm>
          <a:prstGeom prst="rect">
            <a:avLst/>
          </a:prstGeom>
          <a:solidFill>
            <a:srgbClr val="FFE1D1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876288" y="3209544"/>
            <a:ext cx="384048" cy="384048"/>
          </a:xfrm>
          <a:prstGeom prst="rect">
            <a:avLst/>
          </a:prstGeom>
          <a:solidFill>
            <a:srgbClr val="FFE1D1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644384" y="3209544"/>
            <a:ext cx="384048" cy="384048"/>
          </a:xfrm>
          <a:prstGeom prst="rect">
            <a:avLst/>
          </a:prstGeom>
          <a:solidFill>
            <a:srgbClr val="FFE1D1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412480" y="3209544"/>
            <a:ext cx="384048" cy="384048"/>
          </a:xfrm>
          <a:prstGeom prst="rect">
            <a:avLst/>
          </a:prstGeom>
          <a:solidFill>
            <a:srgbClr val="FFE1D1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876288" y="3977640"/>
            <a:ext cx="384048" cy="384048"/>
          </a:xfrm>
          <a:prstGeom prst="rect">
            <a:avLst/>
          </a:prstGeom>
          <a:solidFill>
            <a:srgbClr val="FFE1D1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644384" y="3977640"/>
            <a:ext cx="384048" cy="384048"/>
          </a:xfrm>
          <a:prstGeom prst="rect">
            <a:avLst/>
          </a:prstGeom>
          <a:solidFill>
            <a:srgbClr val="FFE1D1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412480" y="3977640"/>
            <a:ext cx="384048" cy="384048"/>
          </a:xfrm>
          <a:prstGeom prst="rect">
            <a:avLst/>
          </a:prstGeom>
          <a:solidFill>
            <a:srgbClr val="FFE1D1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876288" y="2441448"/>
            <a:ext cx="1920240" cy="1920240"/>
          </a:xfrm>
          <a:prstGeom prst="rect">
            <a:avLst/>
          </a:prstGeom>
          <a:ln w="25400">
            <a:solidFill>
              <a:srgbClr val="8A93A6"/>
            </a:solidFill>
            <a:prstDash val="dash"/>
          </a:ln>
        </p:spPr>
      </p:sp>
      <p:sp>
        <p:nvSpPr>
          <p:cNvPr id="215" name="Text 213"/>
          <p:cNvSpPr/>
          <p:nvPr/>
        </p:nvSpPr>
        <p:spPr>
          <a:xfrm>
            <a:off x="6492240" y="49286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9 weights now span a 5 × 5 area</a:t>
            </a:r>
            <a:endParaRPr lang="en-US" sz="1150" dirty="0"/>
          </a:p>
        </p:txBody>
      </p:sp>
      <p:sp>
        <p:nvSpPr>
          <p:cNvPr id="216" name="Shape 214"/>
          <p:cNvSpPr/>
          <p:nvPr/>
        </p:nvSpPr>
        <p:spPr>
          <a:xfrm>
            <a:off x="548640" y="603504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dilation → </a:t>
            </a:r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receptive field with no extra parameters — useful for capturing long-range context (e.g. segmentation).</a:t>
            </a:r>
            <a:endParaRPr lang="en-US" sz="1150" dirty="0"/>
          </a:p>
        </p:txBody>
      </p:sp>
      <p:sp>
        <p:nvSpPr>
          <p:cNvPr id="218" name="Text 21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CONVOLUTION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Together: Output Size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630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=  </a:t>
            </a:r>
            <a:pPr algn="ctr" indent="0" marL="0">
              <a:buNone/>
            </a:pPr>
            <a:r>
              <a:rPr lang="en-US" sz="2200" b="1" dirty="0">
                <a:solidFill>
                  <a:srgbClr val="00B8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⌊ (W − K + 2P) / S ⌋ + 1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938528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dilation:   </a:t>
            </a:r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=  ⌊ (W + 2P − D×(K−1) − 1) / S ⌋ + 1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1956816" cy="6858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69748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 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width / height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07792" y="2697480"/>
            <a:ext cx="1956816" cy="6858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69748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 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size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92624" y="2697480"/>
            <a:ext cx="1956816" cy="6858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2352" y="269748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077456" y="2697480"/>
            <a:ext cx="1956816" cy="6858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87184" y="269748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 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62288" y="2697480"/>
            <a:ext cx="1956816" cy="6858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72016" y="269748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977640"/>
          <a:ext cx="10515600" cy="22860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×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×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×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×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CONVOLUTION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Effect of Each Parameter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03120"/>
                <a:gridCol w="4937760"/>
                <a:gridCol w="38404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it increases…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use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4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 size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Larger receptive field per step, fewer output cells, more parameters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 broader spatial patterns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Padding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shrinks less (or not at all); border pixels get fairer coverage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Preserve spatial dimensions ("same" convs)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Stride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shrinks faster; fewer computations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Downsample instead of pooling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Dilation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Larger receptive field with no extra parameters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 long-range context (e.g. segmentation)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how these four knobs trade off receptive field, output size, and computation is the foundation for designing CNN architectures.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5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2026-08-20T05:21:04Z</dcterms:created>
  <dcterms:modified xsi:type="dcterms:W3CDTF">2026-08-20T05:21:04Z</dcterms:modified>
</cp:coreProperties>
</file>